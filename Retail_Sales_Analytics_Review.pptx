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monetary value ($)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 Risk</c:v>
                </c:pt>
                <c:pt idx="1">
                  <c:v>Medium Value</c:v>
                </c:pt>
                <c:pt idx="2">
                  <c:v>High 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3553.12</c:v>
                </c:pt>
                <c:pt idx="1">
                  <c:v>5553.7</c:v>
                </c:pt>
                <c:pt idx="2">
                  <c:v>13002.95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0862080"/>
        <c:axId val="40863168"/>
      </c:barChart>
      <c:catAx>
        <c:axId val="408620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40863168"/>
        <c:crosses val="autoZero"/>
        <c:auto val="1"/>
        <c:lblAlgn val="ctr"/>
        <c:lblOffset val="100"/>
        <c:noMultiLvlLbl val="1"/>
      </c:catAx>
      <c:valAx>
        <c:axId val="4086316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40862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17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89320"/>
            <a:ext cx="12188952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review_ppt/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7964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14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Analytics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290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Excel, SQL, Power BI and Python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8368" y="4160520"/>
            <a:ext cx="12801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4297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Retail, Sales &amp; Inventory Analytics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55980" y="4480560"/>
            <a:ext cx="49539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E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2000" dirty="0" smtClean="0">
                <a:solidFill>
                  <a:srgbClr val="7E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2000" dirty="0" err="1" smtClean="0">
                <a:solidFill>
                  <a:srgbClr val="7E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Karthika</a:t>
            </a:r>
            <a:r>
              <a:rPr lang="en-US" sz="2000" dirty="0" smtClean="0">
                <a:solidFill>
                  <a:srgbClr val="7E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</a:t>
            </a:r>
            <a:r>
              <a:rPr lang="en-US" sz="2000" dirty="0" smtClean="0">
                <a:solidFill>
                  <a:srgbClr val="7E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874257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</a:t>
            </a:r>
            <a:r>
              <a:rPr lang="en-US" sz="1100" dirty="0" smtClean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100" dirty="0">
                <a:solidFill>
                  <a:srgbClr val="6B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Capstone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in this review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7335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25880" y="1709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/home/claude/review_ppt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526" y="1852574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057400" y="15087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1508760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46520" y="167335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040880" y="1709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review_ppt/icon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526" y="1852574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772400" y="15087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2724912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88950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1325880" y="2926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review_ppt/icon_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526" y="306872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057400" y="2724912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Excel: Data Cleaning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263640" y="2724912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446520" y="288950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7040880" y="2926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review_ppt/icon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3526" y="306872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772400" y="2724912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SQL: Database &amp; Queries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548640" y="3941064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31520" y="41056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1325880" y="4142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/home/claude/review_ppt/icon_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8526" y="4284878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2057400" y="3941064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Python: EDA &amp; Machine Learning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6263640" y="3941064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6446520" y="41056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Shape 26"/>
          <p:cNvSpPr/>
          <p:nvPr/>
        </p:nvSpPr>
        <p:spPr>
          <a:xfrm>
            <a:off x="7040880" y="4142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5" descr="/home/claude/review_ppt/icon_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3526" y="4284878"/>
            <a:ext cx="263347" cy="26334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772400" y="3941064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Power BI: Dashboard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548640" y="5157216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731520" y="53218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1325880" y="53583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" name="Image 6" descr="/home/claude/review_ppt/icon_bul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8526" y="5501030"/>
            <a:ext cx="263347" cy="263347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2948940" y="5157216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350" dirty="0"/>
          </a:p>
        </p:txBody>
      </p:sp>
      <p:sp>
        <p:nvSpPr>
          <p:cNvPr id="41" name="Shape 32"/>
          <p:cNvSpPr/>
          <p:nvPr/>
        </p:nvSpPr>
        <p:spPr>
          <a:xfrm>
            <a:off x="6263640" y="5157216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F5F6FA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6446520" y="53218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Shape 34"/>
          <p:cNvSpPr/>
          <p:nvPr/>
        </p:nvSpPr>
        <p:spPr>
          <a:xfrm>
            <a:off x="7040880" y="53583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4" name="Image 7" descr="/home/claude/review_ppt/icon_fla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3526" y="5501030"/>
            <a:ext cx="263347" cy="263347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772400" y="5157216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</a:t>
            </a:r>
            <a:endParaRPr lang="en-US" sz="1350" dirty="0"/>
          </a:p>
        </p:txBody>
      </p:sp>
      <p:sp>
        <p:nvSpPr>
          <p:cNvPr id="46" name="Shape 36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review_ppt/icon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8800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755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42316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competitive retail market, businesses need to track sales performance, understand customer behavior, and identify growth opportunities — but scattered, manually-checked spreadsheets make this slow and error-prone.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20624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end-to-end analytics solution that turns raw transactional data into governed, trustworthy, actionable insight.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3504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review_ppt/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799" y="1685239"/>
            <a:ext cx="241402" cy="2414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75120" y="155448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5F6F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858000" y="1554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performance across stores and staff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35040" y="24871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review_ppt/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799" y="2617927"/>
            <a:ext cx="241402" cy="24140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675120" y="2487168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5F6F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858000" y="24871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customers and buying patterns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035040" y="34198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review_ppt/icon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5799" y="3550615"/>
            <a:ext cx="241402" cy="24140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675120" y="3419856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5F6FA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6858000" y="341985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for targeted marketing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035040" y="43525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/home/claude/review_ppt/icon_pack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5799" y="4483303"/>
            <a:ext cx="241402" cy="24140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675120" y="4352544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5F6FA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858000" y="435254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inventory levels and product performance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035040" y="52852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5" descr="/home/claude/review_ppt/icon_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5799" y="5415991"/>
            <a:ext cx="241402" cy="24140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675120" y="5285232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5F6FA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6858000" y="528523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dashboard for management insight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relational tables representing a multi-store bicycle retail business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5F6FA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1,445 rows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5F6FA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50876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1,615 rows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5F6FA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50876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4,722 rows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5F6FA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88036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 rows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43400" y="28803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5F6FA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88036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177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939 rows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38160" y="28803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5F6FA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88036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2519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5F6FA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25196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rows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43400" y="42519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5F6FA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425196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61772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61772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rows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138160" y="42519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5F6FA"/>
          </a:solidFill>
          <a:ln w="9525">
            <a:solidFill>
              <a:srgbClr val="E3E5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4251960"/>
            <a:ext cx="73152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1248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841248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rows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four-phase analytics pipeline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440180" y="18288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review_ppt/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4" y="20665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337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raw data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2286000"/>
            <a:ext cx="502920" cy="0"/>
          </a:xfrm>
          <a:prstGeom prst="line">
            <a:avLst/>
          </a:prstGeom>
          <a:noFill/>
          <a:ln w="25400">
            <a:solidFill>
              <a:srgbClr val="C7CCE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3108960" y="2011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457700" y="18288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review_ppt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444" y="206654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337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query relationally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2286000"/>
            <a:ext cx="502920" cy="0"/>
          </a:xfrm>
          <a:prstGeom prst="line">
            <a:avLst/>
          </a:prstGeom>
          <a:noFill/>
          <a:ln w="25400">
            <a:solidFill>
              <a:srgbClr val="C7CCE0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6126480" y="2011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7475220" y="1828800"/>
            <a:ext cx="914400" cy="91440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9" name="Image 2" descr="/home/claude/review_ppt/icon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2964" y="206654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7512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675120" y="3337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ML segmentation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235440" y="2286000"/>
            <a:ext cx="502920" cy="0"/>
          </a:xfrm>
          <a:prstGeom prst="line">
            <a:avLst/>
          </a:prstGeom>
          <a:noFill/>
          <a:ln w="25400">
            <a:solidFill>
              <a:srgbClr val="C7CCE0"/>
            </a:solidFill>
            <a:prstDash val="dash"/>
          </a:ln>
        </p:spPr>
      </p:sp>
      <p:sp>
        <p:nvSpPr>
          <p:cNvPr id="23" name="Text 18"/>
          <p:cNvSpPr txBox="1"/>
          <p:nvPr/>
        </p:nvSpPr>
        <p:spPr>
          <a:xfrm>
            <a:off x="9144000" y="2011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10492740" y="1828800"/>
            <a:ext cx="914400" cy="91440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25" name="Image 3" descr="/home/claude/review_ppt/icon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0484" y="206654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69264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9692640" y="33375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present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40080" y="438912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validates and builds on the previous one — cleaned Excel data flows into a governed SQL database, which feeds Python's machine learning model, whose results are written back to SQL and finally visualized live in Power BI.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508760" y="7772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review_ppt/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01498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2240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71600" y="3429000"/>
            <a:ext cx="11887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657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duplicates found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pricing verified legitimate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headers pre-standardized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5029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51960" y="502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literal "NULL" text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822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1,267 phone numbers, 170 shipped dates, 1 manager ID cleaned via IF formula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51960" y="16459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5196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709160" y="1600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calculated columns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709160" y="1965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total_price = quantity × list_price × (1 − discount)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51960" y="27889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25196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lookup data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709160" y="3108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pulled product_name &amp; category_name into order_items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51960" y="39319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25196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709160" y="3886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pivot table + chart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4251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total sales by product category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51960" y="50749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251960" y="5074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709160" y="5029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&amp; checked outliers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709160" y="5394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validation on order_status; confirmed pricing extremes were legitimate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SQL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design, relationships &amp; querying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review_ppt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5480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417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 built from the ERD with full primary/foreign key constraints. All data imported and row counts verified against source files.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64240" cy="356616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 by store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~$7.69M across 3 stores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Electra Cruiser / Townie line leads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segmentation (SQL)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 High | 649 Medium | 588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staff drive 500+ orders each, $2.5M+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alert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 product-store combos below 10 units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Python &amp; Machine Learning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and KMeans customer segmentation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5F6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4475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order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37160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5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89120" y="144475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orders placed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37160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5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144475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spent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discovered by KMeans (k = 3)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48640" y="3246120"/>
          <a:ext cx="5486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6492240" y="32918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1" name="Shape 18"/>
          <p:cNvSpPr/>
          <p:nvPr/>
        </p:nvSpPr>
        <p:spPr>
          <a:xfrm>
            <a:off x="6693408" y="3547872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22376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730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652 customers · 45%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92240" y="431596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5" name="Shape 22"/>
          <p:cNvSpPr/>
          <p:nvPr/>
        </p:nvSpPr>
        <p:spPr>
          <a:xfrm>
            <a:off x="6693408" y="457200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223760" y="4407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Value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722376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663 customers · 46%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92240" y="5340096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9" name="Shape 26"/>
          <p:cNvSpPr/>
          <p:nvPr/>
        </p:nvSpPr>
        <p:spPr>
          <a:xfrm>
            <a:off x="6693408" y="5596128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223760" y="5431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7223760" y="5779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customers · 9%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Power BI Dashboard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"Retail Sales &amp; Performance Analytics" — a 3-page interactive report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4663440"/>
          </a:xfrm>
          <a:prstGeom prst="roundRect">
            <a:avLst>
              <a:gd name="adj" fmla="val 2532"/>
            </a:avLst>
          </a:prstGeom>
          <a:solidFill>
            <a:srgbClr val="141A4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review_ppt/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9037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orders, customers &amp; AOV KPI cards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 line chart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revenue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9120" y="1463040"/>
            <a:ext cx="3611880" cy="4663440"/>
          </a:xfrm>
          <a:prstGeom prst="roundRect">
            <a:avLst>
              <a:gd name="adj" fmla="val 2532"/>
            </a:avLst>
          </a:prstGeom>
          <a:solidFill>
            <a:srgbClr val="141A45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review_ppt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861" y="19037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6344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donut chart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vs. monetary scatter plot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466344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table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229600" y="1463040"/>
            <a:ext cx="3611880" cy="4663440"/>
          </a:xfrm>
          <a:prstGeom prst="roundRect">
            <a:avLst>
              <a:gd name="adj" fmla="val 2532"/>
            </a:avLst>
          </a:prstGeom>
          <a:solidFill>
            <a:srgbClr val="141A45"/>
          </a:solidFill>
          <a:ln/>
        </p:spPr>
      </p:sp>
      <p:sp>
        <p:nvSpPr>
          <p:cNvPr id="20" name="Shape 16"/>
          <p:cNvSpPr/>
          <p:nvPr/>
        </p:nvSpPr>
        <p:spPr>
          <a:xfrm>
            <a:off x="8503920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/home/claude/review_ppt/icon_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341" y="190378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50392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Inventory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50392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map sized by revenue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850392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performance leaderboard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8503920" y="4846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 table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73152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7190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review_ppt/icon_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861718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7007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store generates roughly 3x the revenue of the smallest store.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46304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5F6FA"/>
          </a:solidFill>
          <a:ln/>
        </p:spPr>
      </p:sp>
      <p:sp>
        <p:nvSpPr>
          <p:cNvPr id="12" name="Shape 9"/>
          <p:cNvSpPr/>
          <p:nvPr/>
        </p:nvSpPr>
        <p:spPr>
          <a:xfrm>
            <a:off x="6263640" y="1463040"/>
            <a:ext cx="73152" cy="22402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1719072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4" name="Image 1" descr="/home/claude/review_ppt/icon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1861718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0" y="17007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segment drives outsized value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of customers (High Value) spend over 2.5x the At Risk segment on average.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97764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5F6FA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3977640"/>
            <a:ext cx="73152" cy="22402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4233672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pic>
        <p:nvPicPr>
          <p:cNvPr id="20" name="Image 2" descr="/home/claude/review_ppt/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4376318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2153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imbalance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868680" y="48920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 staff handle 500+ orders each — far more than the rest combined.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63640" y="397764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5F6FA"/>
          </a:solidFill>
          <a:ln/>
        </p:spPr>
      </p:sp>
      <p:sp>
        <p:nvSpPr>
          <p:cNvPr id="24" name="Shape 19"/>
          <p:cNvSpPr/>
          <p:nvPr/>
        </p:nvSpPr>
        <p:spPr>
          <a:xfrm>
            <a:off x="6263640" y="3977640"/>
            <a:ext cx="73152" cy="2240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Shape 20"/>
          <p:cNvSpPr/>
          <p:nvPr/>
        </p:nvSpPr>
        <p:spPr>
          <a:xfrm>
            <a:off x="6583680" y="4233672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26" name="Image 3" descr="/home/claude/review_ppt/icon_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326" y="4376318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15200" y="42153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stockout problem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83680" y="48920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product-store combos below 10 units, many completely out of stock.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 solving encountered during the build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9768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Literal "NULL" text in source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Detected via scan; replaced using IF formulas rather than assuming true blanks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wizard silently rebuilt tables without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Diagnosed via SHOW CREATE TABLE; rebuilt with explicit CREATE TABLE + LOAD DATA INFILE scripts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line-ending mismatch (\r\n vs \n)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via error message; corrected LOAD DATA syntax accordingly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stored as % but brief implied flat 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actual values first; corrected the total_price formula before building on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delivered a complete, end-to-end retail analytics pipeline — from raw, inconsistent transactional data to a governed relational database, machine-learning-driven customer segmentation, and an interactive executive dashboard.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5F6F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94436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review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098902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816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completed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3218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SQL, Python/ML, Power BI — fully integrated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26517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5F6FA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294436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review_ppt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774" y="309890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69480" y="2816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tables, 100% verified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3218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match source files exactly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14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5F6FA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4074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review_ppt/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4" y="456194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42793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1,445 customers segmented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554480" y="46817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KMeans clustering on RFM features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41148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5F6FA"/>
          </a:solidFill>
          <a:ln/>
        </p:spPr>
      </p:sp>
      <p:sp>
        <p:nvSpPr>
          <p:cNvPr id="22" name="Shape 17"/>
          <p:cNvSpPr/>
          <p:nvPr/>
        </p:nvSpPr>
        <p:spPr>
          <a:xfrm>
            <a:off x="6492240" y="440740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review_ppt/icon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774" y="4561942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69480" y="42793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live dashboard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269480" y="46817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directly to the SQL database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7200" y="6419088"/>
            <a:ext cx="11274552" cy="0"/>
          </a:xfrm>
          <a:prstGeom prst="line">
            <a:avLst/>
          </a:prstGeom>
          <a:noFill/>
          <a:ln w="9525">
            <a:solidFill>
              <a:srgbClr val="E3E5F0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5527490" y="1805940"/>
            <a:ext cx="1106540" cy="86868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5" name="Image 0" descr="/home/claude/review_ppt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030199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394960" y="379476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Analytics  |  Excel · SQL · Python · Power BI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893</Words>
  <Application>Microsoft Office PowerPoint</Application>
  <PresentationFormat>Widescreen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3</cp:revision>
  <dcterms:created xsi:type="dcterms:W3CDTF">2026-09-22T10:35:43Z</dcterms:created>
  <dcterms:modified xsi:type="dcterms:W3CDTF">2026-09-22T10:47:41Z</dcterms:modified>
</cp:coreProperties>
</file>